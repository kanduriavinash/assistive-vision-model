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9" r:id="rId11"/>
    <p:sldId id="265" r:id="rId12"/>
    <p:sldId id="266" r:id="rId13"/>
    <p:sldId id="267" r:id="rId14"/>
    <p:sldId id="268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74" y="3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664FB56-0504-59F0-F556-DE195B5E0E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185752"/>
              </p:ext>
            </p:extLst>
          </p:nvPr>
        </p:nvGraphicFramePr>
        <p:xfrm>
          <a:off x="2690291" y="5401422"/>
          <a:ext cx="10515599" cy="3505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3208">
                  <a:extLst>
                    <a:ext uri="{9D8B030D-6E8A-4147-A177-3AD203B41FA5}">
                      <a16:colId xmlns:a16="http://schemas.microsoft.com/office/drawing/2014/main" val="2528788590"/>
                    </a:ext>
                  </a:extLst>
                </a:gridCol>
                <a:gridCol w="4192038">
                  <a:extLst>
                    <a:ext uri="{9D8B030D-6E8A-4147-A177-3AD203B41FA5}">
                      <a16:colId xmlns:a16="http://schemas.microsoft.com/office/drawing/2014/main" val="1715838176"/>
                    </a:ext>
                  </a:extLst>
                </a:gridCol>
                <a:gridCol w="5380353">
                  <a:extLst>
                    <a:ext uri="{9D8B030D-6E8A-4147-A177-3AD203B41FA5}">
                      <a16:colId xmlns:a16="http://schemas.microsoft.com/office/drawing/2014/main" val="3559968687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S.No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Team Member Name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Roll Number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4388466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K Dharani Kumar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AM.SC.U4CSE24123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834796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K Bhanu Sai Raj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AM.SC.U4CSE24125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600197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M Surya Kiran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AM.SC.U4CSE24130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3787879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Ayman Jasim M 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AM.SC.U4CSE24163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24712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744ADC20-08D9-C8EC-0B21-A4368F524A3E}"/>
              </a:ext>
            </a:extLst>
          </p:cNvPr>
          <p:cNvSpPr txBox="1"/>
          <p:nvPr/>
        </p:nvSpPr>
        <p:spPr>
          <a:xfrm>
            <a:off x="5715000" y="3108960"/>
            <a:ext cx="200785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3"/>
                </a:solidFill>
              </a:rPr>
              <a:t>Topic:</a:t>
            </a:r>
            <a:endParaRPr lang="en-IN" sz="6000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F076FF-4279-9248-E8B0-526643E0DB29}"/>
              </a:ext>
            </a:extLst>
          </p:cNvPr>
          <p:cNvSpPr txBox="1"/>
          <p:nvPr/>
        </p:nvSpPr>
        <p:spPr>
          <a:xfrm>
            <a:off x="1426329" y="1457827"/>
            <a:ext cx="836212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accent3"/>
                </a:solidFill>
              </a:rPr>
              <a:t>Introduction &amp; Problem Statement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BB4DB-8681-D5BE-228E-16D02E31C471}"/>
              </a:ext>
            </a:extLst>
          </p:cNvPr>
          <p:cNvSpPr txBox="1"/>
          <p:nvPr/>
        </p:nvSpPr>
        <p:spPr>
          <a:xfrm>
            <a:off x="1395849" y="4177520"/>
            <a:ext cx="8610597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Solar Flares, Satellites, GPS &amp; Communications – Why Forecasting Matters</a:t>
            </a:r>
          </a:p>
          <a:p>
            <a:pPr lvl="0"/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Solar flares release intense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X-rays and energetic particles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They can affect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satellites and onboard electronics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They can disrupt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GPS, navigation, and communication systems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Early forecasting provides time to take </a:t>
            </a:r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protective actions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Goal:</a:t>
            </a:r>
            <a:r>
              <a:rPr lang="en-IN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Predict solar flares early and reduce the impact on space-based and communication systems.</a:t>
            </a:r>
          </a:p>
          <a:p>
            <a:br>
              <a:rPr lang="en-IN" sz="2000" dirty="0"/>
            </a:br>
            <a:endParaRPr lang="en-IN" sz="2000" dirty="0"/>
          </a:p>
          <a:p>
            <a:br>
              <a:rPr lang="en-IN" dirty="0"/>
            </a:b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br>
              <a:rPr lang="en-IN" dirty="0"/>
            </a:br>
            <a:endParaRPr lang="en-IN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2C6A039-8D0E-FD66-9AEA-0D7DE5D50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5219" y="2587759"/>
            <a:ext cx="7442469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7FE016-0D9C-9466-CBE1-FE1BC28A66ED}"/>
              </a:ext>
            </a:extLst>
          </p:cNvPr>
          <p:cNvSpPr txBox="1"/>
          <p:nvPr/>
        </p:nvSpPr>
        <p:spPr>
          <a:xfrm>
            <a:off x="1493104" y="1662411"/>
            <a:ext cx="91087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>
                    <a:lumMod val="75000"/>
                  </a:schemeClr>
                </a:solidFill>
              </a:rPr>
              <a:t>Literature Review – Solar Flare Forecasting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CB3C46-A8A9-9AF0-490A-BB388D82462E}"/>
              </a:ext>
            </a:extLst>
          </p:cNvPr>
          <p:cNvSpPr txBox="1"/>
          <p:nvPr/>
        </p:nvSpPr>
        <p:spPr>
          <a:xfrm>
            <a:off x="1371600" y="3222520"/>
            <a:ext cx="84581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Existing Models: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CNN, LSTM/</a:t>
            </a:r>
            <a:r>
              <a:rPr lang="en-IN" sz="24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BiLSTM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Attention and Transformers are widely used for flare prediction.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Common Datasets: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GOES X-ray data and SDO/HMI observations are commonly used.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Key Finding: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Temporal models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generally perform better because solar flares evolve over time.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Research Gap: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Limited research uses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Aditya-L1 </a:t>
            </a:r>
            <a:r>
              <a:rPr lang="en-IN" sz="24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SoLEXS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&amp; HEL1OS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high-frequency X-ray data, and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multi-instrument fusion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b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6BCB277-5122-4227-89A5-73C26E676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8905" y="2867472"/>
            <a:ext cx="7267485" cy="57571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F5B417FE-BC2A-5EF4-D1AF-272F06FDA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6200" y="1654497"/>
            <a:ext cx="4762500" cy="713422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19214F-7711-3B7F-68F0-149B367E7342}"/>
              </a:ext>
            </a:extLst>
          </p:cNvPr>
          <p:cNvSpPr txBox="1"/>
          <p:nvPr/>
        </p:nvSpPr>
        <p:spPr>
          <a:xfrm>
            <a:off x="1410785" y="3132208"/>
            <a:ext cx="94096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Aditya-L1</a:t>
            </a:r>
          </a:p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India’s first dedicated solar observatory at the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Sun–Earth L1 point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, providing continuous solar observations.</a:t>
            </a:r>
          </a:p>
          <a:p>
            <a:r>
              <a:rPr lang="en-IN" sz="2800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SoLEXS</a:t>
            </a:r>
            <a:endParaRPr lang="en-IN" sz="28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Measures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soft X-rays (1–30 keV)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study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thermal plasma heating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during solar flares</a:t>
            </a:r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HEL1OS</a:t>
            </a:r>
          </a:p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Measures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hard X-rays (10–150 keV)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study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energetic electron activity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during flares.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1F3A8B-7B12-CB9A-8E6A-18E9E29D9660}"/>
              </a:ext>
            </a:extLst>
          </p:cNvPr>
          <p:cNvSpPr txBox="1"/>
          <p:nvPr/>
        </p:nvSpPr>
        <p:spPr>
          <a:xfrm>
            <a:off x="1499737" y="1351866"/>
            <a:ext cx="65969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solidFill>
                  <a:schemeClr val="accent3"/>
                </a:solidFill>
              </a:rPr>
              <a:t>Aditya-L1 &amp; Selected Payloads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7420838" y="4006064"/>
            <a:ext cx="605142" cy="93148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61EA1C-60B5-1981-E6A4-ECE72EC8B432}"/>
              </a:ext>
            </a:extLst>
          </p:cNvPr>
          <p:cNvSpPr txBox="1"/>
          <p:nvPr/>
        </p:nvSpPr>
        <p:spPr>
          <a:xfrm>
            <a:off x="1687752" y="1632962"/>
            <a:ext cx="507722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Proposed Methodology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927910-1E88-072C-75E9-F7C8FB8C471B}"/>
              </a:ext>
            </a:extLst>
          </p:cNvPr>
          <p:cNvSpPr txBox="1"/>
          <p:nvPr/>
        </p:nvSpPr>
        <p:spPr>
          <a:xfrm>
            <a:off x="1687752" y="3132978"/>
            <a:ext cx="7227648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800" b="1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 Collection</a:t>
            </a:r>
            <a:r>
              <a:rPr lang="en-IN" b="1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Collect </a:t>
            </a:r>
            <a:r>
              <a:rPr lang="en-IN" sz="2400" u="sng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SoLEXS</a:t>
            </a:r>
            <a:r>
              <a:rPr lang="en-IN" sz="2400" u="sng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and HEL1OS X-ray data from Aditya-L1.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Preprocessing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Clean the data and create 3600-second light-curve sequences.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Feature Fusion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Combine thermal and non-thermal X-ray features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Deep Learning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CNN → </a:t>
            </a:r>
            <a:r>
              <a:rPr lang="en-IN" b="1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BiLSTM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→ Attention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to learn spatial and temporal patterns.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Prediction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Classify the sequence as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Flare or No-Flare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440FC1B9-F7B4-0626-CAB8-11EFC7621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9848" y="2340848"/>
            <a:ext cx="7691351" cy="60030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885E30-733E-69E0-69EB-383F05E2C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-76200"/>
            <a:ext cx="18211800" cy="1043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35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31949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5048746" y="4840285"/>
            <a:ext cx="1341584" cy="9985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A767DE-FAD9-E6D0-CB59-E9E87B1F529C}"/>
              </a:ext>
            </a:extLst>
          </p:cNvPr>
          <p:cNvSpPr txBox="1"/>
          <p:nvPr/>
        </p:nvSpPr>
        <p:spPr>
          <a:xfrm>
            <a:off x="1726237" y="1181100"/>
            <a:ext cx="61141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Dataset Creation &amp; Statistics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FDAD188-0BB5-270A-2A79-6EC266F22384}"/>
              </a:ext>
            </a:extLst>
          </p:cNvPr>
          <p:cNvSpPr txBox="1"/>
          <p:nvPr/>
        </p:nvSpPr>
        <p:spPr>
          <a:xfrm>
            <a:off x="1656574" y="2762460"/>
            <a:ext cx="3853940" cy="27084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Dataset Statistics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105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Observation Dates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4,491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Valid FITS Files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732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Final Sequences </a:t>
            </a:r>
          </a:p>
          <a:p>
            <a:pPr lvl="0"/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60 min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Lookback Window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Input Shape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(732, 3600, 4)</a:t>
            </a:r>
          </a:p>
          <a:p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B8B55D-6E97-6F41-12CB-B47C1A4403AD}"/>
              </a:ext>
            </a:extLst>
          </p:cNvPr>
          <p:cNvSpPr txBox="1"/>
          <p:nvPr/>
        </p:nvSpPr>
        <p:spPr>
          <a:xfrm>
            <a:off x="1561643" y="5339560"/>
            <a:ext cx="697420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Input Data</a:t>
            </a:r>
          </a:p>
          <a:p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732 samples × 3600 time steps × 4 channels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Final dataset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Clean, </a:t>
            </a:r>
            <a:r>
              <a:rPr lang="en-IN" sz="24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labeled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X-ray sequences ready for deep-learning-based flare prediction</a:t>
            </a:r>
          </a:p>
          <a:p>
            <a:endParaRPr lang="en-IN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C7E72FC8-0B6B-F8E2-0218-2A4676FE6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889" y="1681391"/>
            <a:ext cx="8686799" cy="7119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6555479-8DDC-C754-4AAE-B5C25F9B07A6}"/>
              </a:ext>
            </a:extLst>
          </p:cNvPr>
          <p:cNvSpPr txBox="1"/>
          <p:nvPr/>
        </p:nvSpPr>
        <p:spPr>
          <a:xfrm>
            <a:off x="1447800" y="1279019"/>
            <a:ext cx="52532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Data Processing Pipeline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6E57EF-079B-A27D-A7A6-34C981E1FEBF}"/>
              </a:ext>
            </a:extLst>
          </p:cNvPr>
          <p:cNvSpPr txBox="1"/>
          <p:nvPr/>
        </p:nvSpPr>
        <p:spPr>
          <a:xfrm>
            <a:off x="1481398" y="6804371"/>
            <a:ext cx="7976927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Raw FITS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Collect satellite observation files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Quality Filtering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Remove invalid or incomplete data. </a:t>
            </a:r>
          </a:p>
          <a:p>
            <a:pPr lvl="0"/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</a:t>
            </a:r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xtraction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Convert FITS data into X-ray light curves. </a:t>
            </a:r>
          </a:p>
          <a:p>
            <a:pPr lvl="0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Labelling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Assign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Flare / No-Flare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labels. </a:t>
            </a:r>
          </a:p>
          <a:p>
            <a:pPr lvl="0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Sequence Generation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Create fixed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60-minute sequences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 </a:t>
            </a:r>
          </a:p>
          <a:p>
            <a:pPr lvl="0"/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Training Dataset</a:t>
            </a:r>
            <a:r>
              <a:rPr lang="en-IN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</a:t>
            </a:r>
            <a:r>
              <a:rPr lang="en-IN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Generate model-ready data </a:t>
            </a:r>
            <a:r>
              <a:rPr lang="en-IN" sz="2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(732, 3600, 4)</a:t>
            </a:r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</a:p>
          <a:p>
            <a:endParaRPr lang="en-IN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54EC191D-66F6-178A-CF02-39E6FF1A1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98" y="2369246"/>
            <a:ext cx="10439399" cy="3795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5"/>
          <p:cNvSpPr txBox="1"/>
          <p:nvPr/>
        </p:nvSpPr>
        <p:spPr>
          <a:xfrm>
            <a:off x="10280856" y="4662270"/>
            <a:ext cx="1341584" cy="99855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3CE714-E3BE-2F8B-CE47-6E64010FEA36}"/>
              </a:ext>
            </a:extLst>
          </p:cNvPr>
          <p:cNvSpPr txBox="1"/>
          <p:nvPr/>
        </p:nvSpPr>
        <p:spPr>
          <a:xfrm>
            <a:off x="1681126" y="1409700"/>
            <a:ext cx="5422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Implementation Progress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A6409F99-8400-D61F-A316-84C85D905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126" y="2474086"/>
            <a:ext cx="16080017" cy="6811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E5BE07D-041A-87B0-C07B-8CE0FF77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346" y="2541896"/>
            <a:ext cx="6885855" cy="6030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A0E2B75-B3CC-A273-27B1-4D322A461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1" y="2541896"/>
            <a:ext cx="6553199" cy="61068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5A9314-8DFD-2A87-1BC2-0B06539DEB98}"/>
              </a:ext>
            </a:extLst>
          </p:cNvPr>
          <p:cNvSpPr txBox="1"/>
          <p:nvPr/>
        </p:nvSpPr>
        <p:spPr>
          <a:xfrm>
            <a:off x="1953346" y="1104900"/>
            <a:ext cx="1728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Results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29895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3408C0-2D60-C80B-BBC9-3621423E989D}"/>
              </a:ext>
            </a:extLst>
          </p:cNvPr>
          <p:cNvSpPr txBox="1"/>
          <p:nvPr/>
        </p:nvSpPr>
        <p:spPr>
          <a:xfrm>
            <a:off x="1601826" y="1061707"/>
            <a:ext cx="1668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Results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C6B6C25-A1D9-3864-9FA7-1EB72588F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069" y="1800091"/>
            <a:ext cx="7930932" cy="6833264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1F8D6C5-65AF-3FBF-5A65-6654943F3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800092"/>
            <a:ext cx="7930931" cy="68332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97219F-B047-A036-F429-0B68B8FB4797}"/>
              </a:ext>
            </a:extLst>
          </p:cNvPr>
          <p:cNvSpPr txBox="1"/>
          <p:nvPr/>
        </p:nvSpPr>
        <p:spPr>
          <a:xfrm>
            <a:off x="1687752" y="1498527"/>
            <a:ext cx="3762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Scientific Insights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F6579B-5814-2C0A-F9A9-01DF6FE0C2DD}"/>
              </a:ext>
            </a:extLst>
          </p:cNvPr>
          <p:cNvSpPr txBox="1"/>
          <p:nvPr/>
        </p:nvSpPr>
        <p:spPr>
          <a:xfrm>
            <a:off x="1687752" y="2781300"/>
            <a:ext cx="1202824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Key Performance Insights &amp; Gains</a:t>
            </a:r>
          </a:p>
          <a:p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Substantial Major Flare Detection Boost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 model achieved an OOF Recall of 83.33%, successfully predicting 95 out of 114 major flares up to 60 minutes prior to peak flux.</a:t>
            </a:r>
          </a:p>
          <a:p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Impact of Tier-1 Ingestion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en-US" sz="20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Ingesting +36 additional M/X flares from Tier-1 dates expanded major flare training samples from 78 to 114, providing the network with diverse high-flux pre-flare dynamics.</a:t>
            </a:r>
          </a:p>
          <a:p>
            <a:r>
              <a:rPr lang="en-US" sz="28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Sequential Feature Extraction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The 2-layer Bidirectional LSTM backbone captured long-range temporal trends and derivative shifts across the 3,600s window that static CNN pooling missed</a:t>
            </a:r>
            <a:r>
              <a:rPr lang="en-US" sz="2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344194" y="7191627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4DA906-C10F-6A53-7383-1006B45E9BCC}"/>
              </a:ext>
            </a:extLst>
          </p:cNvPr>
          <p:cNvSpPr txBox="1"/>
          <p:nvPr/>
        </p:nvSpPr>
        <p:spPr>
          <a:xfrm>
            <a:off x="1828800" y="1449880"/>
            <a:ext cx="56258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Challenges &amp; Phase 2 Plan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4BCB17-C480-C87B-2A7D-9AEE16E30DE2}"/>
              </a:ext>
            </a:extLst>
          </p:cNvPr>
          <p:cNvSpPr txBox="1"/>
          <p:nvPr/>
        </p:nvSpPr>
        <p:spPr>
          <a:xfrm>
            <a:off x="1687752" y="3382038"/>
            <a:ext cx="69228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Challenges Faced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Limited Aditya-L1 data available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Imbalanced dataset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High training time for deep learning models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B3A84B-7315-D615-FD7B-60A253313242}"/>
              </a:ext>
            </a:extLst>
          </p:cNvPr>
          <p:cNvSpPr txBox="1"/>
          <p:nvPr/>
        </p:nvSpPr>
        <p:spPr>
          <a:xfrm>
            <a:off x="1597575" y="5432793"/>
            <a:ext cx="552138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Future Work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Use magnetogram data for better accuracy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Develop a real-time forecasting system</a:t>
            </a:r>
          </a:p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Train on a larger Aditya-L1 dataset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6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611552" y="5372100"/>
            <a:ext cx="8408989" cy="7786101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15359345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0"/>
                </a:moveTo>
                <a:lnTo>
                  <a:pt x="2687115" y="0"/>
                </a:lnTo>
                <a:lnTo>
                  <a:pt x="2687115" y="2687116"/>
                </a:lnTo>
                <a:lnTo>
                  <a:pt x="0" y="26871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15359345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0" y="2687116"/>
                </a:moveTo>
                <a:lnTo>
                  <a:pt x="2687115" y="2687116"/>
                </a:lnTo>
                <a:lnTo>
                  <a:pt x="2687115" y="0"/>
                </a:lnTo>
                <a:lnTo>
                  <a:pt x="0" y="0"/>
                </a:lnTo>
                <a:lnTo>
                  <a:pt x="0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344194" y="7154022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2687116"/>
                </a:moveTo>
                <a:lnTo>
                  <a:pt x="0" y="2687116"/>
                </a:lnTo>
                <a:lnTo>
                  <a:pt x="0" y="0"/>
                </a:lnTo>
                <a:lnTo>
                  <a:pt x="2687116" y="0"/>
                </a:lnTo>
                <a:lnTo>
                  <a:pt x="2687116" y="268711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344194" y="289404"/>
            <a:ext cx="2687116" cy="2687116"/>
          </a:xfrm>
          <a:custGeom>
            <a:avLst/>
            <a:gdLst/>
            <a:ahLst/>
            <a:cxnLst/>
            <a:rect l="l" t="t" r="r" b="b"/>
            <a:pathLst>
              <a:path w="2687116" h="2687116">
                <a:moveTo>
                  <a:pt x="2687116" y="0"/>
                </a:moveTo>
                <a:lnTo>
                  <a:pt x="0" y="0"/>
                </a:lnTo>
                <a:lnTo>
                  <a:pt x="0" y="2687116"/>
                </a:lnTo>
                <a:lnTo>
                  <a:pt x="2687116" y="2687116"/>
                </a:lnTo>
                <a:lnTo>
                  <a:pt x="26871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3296757" y="527974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578290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7866957" y="3222520"/>
            <a:ext cx="0" cy="3685502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269847" y="9641683"/>
            <a:ext cx="11850961" cy="0"/>
          </a:xfrm>
          <a:prstGeom prst="line">
            <a:avLst/>
          </a:prstGeom>
          <a:ln w="38100" cap="flat">
            <a:solidFill>
              <a:srgbClr val="8A6A4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AF4E16-D8FB-7F2F-4D38-9618C357CC36}"/>
              </a:ext>
            </a:extLst>
          </p:cNvPr>
          <p:cNvSpPr txBox="1"/>
          <p:nvPr/>
        </p:nvSpPr>
        <p:spPr>
          <a:xfrm>
            <a:off x="1714256" y="1279019"/>
            <a:ext cx="53277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solidFill>
                  <a:schemeClr val="accent3"/>
                </a:solidFill>
              </a:rPr>
              <a:t>Conclusion &amp; References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B71456-9CCE-A948-A7B6-D66D4D7C81FC}"/>
              </a:ext>
            </a:extLst>
          </p:cNvPr>
          <p:cNvSpPr txBox="1"/>
          <p:nvPr/>
        </p:nvSpPr>
        <p:spPr>
          <a:xfrm>
            <a:off x="4587240" y="4651772"/>
            <a:ext cx="3794760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74A79A-00FA-7FA9-B338-9F54BF5376BA}"/>
              </a:ext>
            </a:extLst>
          </p:cNvPr>
          <p:cNvSpPr txBox="1"/>
          <p:nvPr/>
        </p:nvSpPr>
        <p:spPr>
          <a:xfrm rot="10800000" flipV="1">
            <a:off x="1672512" y="3548820"/>
            <a:ext cx="15167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[1] Indian Space Research </a:t>
            </a:r>
            <a:r>
              <a:rPr lang="en-US" sz="2400" dirty="0" err="1">
                <a:solidFill>
                  <a:schemeClr val="accent3">
                    <a:lumMod val="20000"/>
                    <a:lumOff val="80000"/>
                  </a:schemeClr>
                </a:solidFill>
              </a:rPr>
              <a:t>Organisation</a:t>
            </a:r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(ISRO), "Aditya-L1 Mission," ISRO. [Online]. Available: https://www.isro.gov.in/Aditya_L1.html. [Accessed: Sep. 4, 2026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E2F35F-4FF5-1E57-02BD-C9BDEDC32853}"/>
              </a:ext>
            </a:extLst>
          </p:cNvPr>
          <p:cNvSpPr txBox="1"/>
          <p:nvPr/>
        </p:nvSpPr>
        <p:spPr>
          <a:xfrm>
            <a:off x="1605049" y="4561294"/>
            <a:ext cx="14268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[2] National Aeronautics and Space Administration (NASA), "Solar Dynamics Observatory," NASA. [Online]. Available: https://sdo.gsfc.nasa.gov/. [Accessed: Sep. 4, 2026].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6973BA-DE02-FA0F-B0CE-5E00232D2F2E}"/>
              </a:ext>
            </a:extLst>
          </p:cNvPr>
          <p:cNvSpPr txBox="1"/>
          <p:nvPr/>
        </p:nvSpPr>
        <p:spPr>
          <a:xfrm>
            <a:off x="1605049" y="5618566"/>
            <a:ext cx="14268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[3] National Oceanic and Atmospheric Administration (NOAA), "Space Weather Prediction Center," NOAA. [Online]. Available: https://www.swpc.noaa.gov/. [Accessed: Sep. 4, 2026].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16470D-E7FC-7A03-6631-D074616436BE}"/>
              </a:ext>
            </a:extLst>
          </p:cNvPr>
          <p:cNvSpPr txBox="1"/>
          <p:nvPr/>
        </p:nvSpPr>
        <p:spPr>
          <a:xfrm>
            <a:off x="1605049" y="6669043"/>
            <a:ext cx="13963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[4] TensorFlow Developers, "TensorFlow Documentation." [Online]. Available: https://www.tensorflow.org/. [Accessed: Sep. 4, 2026].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146666-DA7F-778E-9DC0-48E6FFE3BE19}"/>
              </a:ext>
            </a:extLst>
          </p:cNvPr>
          <p:cNvSpPr txBox="1"/>
          <p:nvPr/>
        </p:nvSpPr>
        <p:spPr>
          <a:xfrm>
            <a:off x="1596312" y="7929820"/>
            <a:ext cx="153810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[5] Scikit-learn Developers, "Scikit-learn: Machine Learning in Python." [Online]. Available: https://scikit-learn.org/. [Accessed: Sep. 4, 2026].</a:t>
            </a:r>
            <a:endParaRPr lang="en-IN" sz="2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770</Words>
  <Application>Microsoft Office PowerPoint</Application>
  <PresentationFormat>Custom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Green Classic History Project Presentation</dc:title>
  <dc:creator>Dell</dc:creator>
  <cp:lastModifiedBy>k bhanu sai raj</cp:lastModifiedBy>
  <cp:revision>3</cp:revision>
  <dcterms:created xsi:type="dcterms:W3CDTF">2006-08-16T00:00:00Z</dcterms:created>
  <dcterms:modified xsi:type="dcterms:W3CDTF">2026-09-04T05:47:08Z</dcterms:modified>
  <dc:identifier>DAHUJ9Qfkn4</dc:identifier>
</cp:coreProperties>
</file>